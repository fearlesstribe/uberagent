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ÜBERAGENT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AI Strategy &amp;</a:t>
            </a:r>
          </a:p>
          <a:p>
            <a:r>
              <a:rPr sz="4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Implementation</a:t>
            </a:r>
          </a:p>
          <a:p>
            <a:r>
              <a:rPr sz="4800" b="0">
                <a:solidFill>
                  <a:srgbClr val="E8A892"/>
                </a:solidFill>
                <a:latin typeface="Inter"/>
                <a:ea typeface="Inter"/>
                <a:cs typeface="Inter"/>
              </a:rPr>
              <a:t>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Laurens Lang MSc MBA  ·  AI Strategy &amp; Implementation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Zwei Kapitel. Ein Operating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1206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48840"/>
            <a:ext cx="54864" cy="45720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01  ·  AI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Portfolio, Funnel &amp;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A   AI Portfolio — von Ideen zum priorisierten Portfolio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B   Funnel &amp; Governance — Stage-Gates bis Scaling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148840"/>
            <a:ext cx="54864" cy="45720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02  ·  AI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Agenten, die operativ Wert schaffen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918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A   Presentation Agent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B   CRM Enrichment Agent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C   Sales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Von Ideen zum priorisierten AI-Portfolio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Wie Ihr Unternehmen PowerPoint-Folien bricht, langwierige Strategie-Diskussionen verkürzt und produktive AI-Agenten entwickelt, die operative Kosten senken und Wachstum maximieren. Messbar und planbar.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191C2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Die wirkungsvollsten Use Cases werden gezielt selektiert — der Gesamtimpact der AI Strategy wird messbar maximiert.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73152" cy="201168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Steuerbar &amp; planbar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Durch klare Governance steuerbar. Risiken und Abhängigkeiten früh erfassen.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840480"/>
            <a:ext cx="73152" cy="201168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Vertrauen &amp; Ressourcen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Schafft Vertrauen in der Organisation und setzt Ressourcen langfristig frei.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840480"/>
            <a:ext cx="73152" cy="201168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Quality &amp;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Quality- &amp; Compliance-Gates sichern Umsetzungsqualität und regulatorische Exzellenz.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7-Phasen-Funnel mit Stage-Gates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Jeder Use Case durchläuft denselben Funnel. Ohne Evidenz kein Weiterrollen.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72800" cy="530352"/>
          </a:xfrm>
          <a:prstGeom prst="roundRect">
            <a:avLst>
              <a:gd name="adj" fmla="val 8000"/>
            </a:avLst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Collect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011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Breites Spektrum, keine Blind Spots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42032"/>
            <a:ext cx="10332720" cy="530352"/>
          </a:xfrm>
          <a:prstGeom prst="roundRect">
            <a:avLst>
              <a:gd name="adj" fmla="val 8000"/>
            </a:avLst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151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Analysis &amp;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6334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5 Dimensionen, ein Ranking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163824"/>
            <a:ext cx="9692640" cy="530352"/>
          </a:xfrm>
          <a:prstGeom prst="roundRect">
            <a:avLst>
              <a:gd name="adj" fmla="val 8000"/>
            </a:avLst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2369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09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Deep 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2552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Investment Case schärfen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3785616"/>
            <a:ext cx="9052560" cy="530352"/>
          </a:xfrm>
          <a:prstGeom prst="roundRect">
            <a:avLst>
              <a:gd name="adj" fmla="val 8000"/>
            </a:avLst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858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8313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7705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Build · Buy · Pivot · Kill · Defer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407408"/>
            <a:ext cx="8412480" cy="530352"/>
          </a:xfrm>
          <a:prstGeom prst="roundRect">
            <a:avLst>
              <a:gd name="adj" fmla="val 8000"/>
            </a:avLst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4531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MVP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98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Nutzen mit Daten validieren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0280" y="5029200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51023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074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Roll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Enablement &amp; Adoption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5650992"/>
            <a:ext cx="7132320" cy="530352"/>
          </a:xfrm>
          <a:prstGeom prst="roundRect">
            <a:avLst>
              <a:gd name="adj" fmla="val 8000"/>
            </a:avLst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57241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6967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742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Impact maximieren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01  ·  COLLECT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Ideen systematisch sammeln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Ein breites Spektrum relevanter AI-Use-Cases identifizieren — strategische Blind Spots vermeiden.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Externe Impulse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Forschung &amp; Publikationen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Branchenstudien &amp; Reports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Technologie- &amp; Markttrends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Wettbewerber &amp; verwandte Industrien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Interne Ideen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Kontinuierliche Einreichung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Gezielte Challenges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Anreize bei erfolgreicher Umsetzung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Bottom-up aus dem Alltag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Konkretisieren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Discovery-Workshops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Problem, Prozesse, Risiken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Stakeholder &amp; Abhängigkeiten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Zahlen fürs Scoring nachreichen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02  ·  ANALYSIS &amp;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Fünf Dimensionen. Ein Ranking.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Use Cases quantitativ bewerten, vergleichbar machen und im AI-Portfolio priorisieren.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91440" cy="73152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019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Messbarer Nutzen: Effizienz, Umsatz, Strategie, Reichweite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91440" cy="73152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AI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249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Lösungsgrad, Datenqualität, AI-Eignung, Human-in-the-Loop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91440" cy="73152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Feasibility &amp;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47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Komplexität, Integration, Build-/Run-/Change-Aufwand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91440" cy="73152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97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Time-to-Value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3708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Zeit bis MVP, Produktivbetrieb, Break-even, Skalierung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920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91440" cy="73152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38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20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Risk &amp;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937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Qualität, Sicherheit, Transparenz, Datenschutz, Regulierung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02  ·  AI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Dynamisches Portfolio statt Projektliste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Value vs. Risiko/Komplexität — Grundlage für die AI-Roadmap.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Hoher Value · tragbares Risiko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A892"/>
                </a:solidFill>
                <a:latin typeface="Inter"/>
                <a:ea typeface="Inter"/>
                <a:cs typeface="Inter"/>
              </a:rPr>
              <a:t>Priorisierte Umsetzung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DE-RISK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Hoher Value · erhöhtes Risiko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Zuerst absichern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JetBrains Mono"/>
                <a:ea typeface="JetBrains Mono"/>
                <a:cs typeface="JetBrains Mono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Mittlerer Value · offen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Scope anpassen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Niedriger Value · hohes Risiko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Bewusst stoppen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03  · 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Entscheidungsreifer Investment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Ziel: Eine belastbare Entscheidungsgrundlage für die Investition schaffen.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01  Lösungsbild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Was bauen wir?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Problem &amp; gewünschte Ergebnisse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Nutzer, Rollen, Prozesse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Scope &amp; Abgrenzung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Daten &amp; Systeme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MVP + Zielbild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Grobarchitektur &amp;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02  Business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Lohnt es sich?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Finanzieller &amp; operativer Nutzen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Volumina &amp; Prozesskosten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Quantifizierbare Effekte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Build-/Run-Kosten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Time-to-Value &amp; Amortisation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Erfolgsmetriken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03  Machbarkeit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Können wir 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880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Architektur &amp; Abhängigkeiten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Datenreife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Compliance &amp; Betrieb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Risiken &amp; Mitigation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Owner &amp; Kapazität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Exit-Kriterien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04  · 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Portfolio-Entscheidung mit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Budget, Verantwortlichkeiten, Zeitplan und nächste Schritte — verbindlich festlegen.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191C2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9202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191C2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9202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191C2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PIVOT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9202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191C2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892"/>
                </a:solidFill>
                <a:latin typeface="JetBrains Mono"/>
                <a:ea typeface="JetBrains Mono"/>
                <a:cs typeface="JetBrains Mono"/>
              </a:rPr>
              <a:t>KILL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9202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DEFER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Verbindliche Festlegungen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Budget &amp; Ressourcen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947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Sponsor &amp; Stakeholder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947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Scope &amp; Zeitplan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Erfolgskennzahlen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7091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Nächster Review-Punkt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05–07  · 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MVP → Roll-out →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20440" cy="73152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05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Validieren mit Nutzungsdaten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Kurze Sprints, frühes Feedback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Erfolgskriterien vor dem Start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Go / Anpassen / Stop auf Evidenz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Quality- &amp; Compliance-Gates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520440" cy="73152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06  Roll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Einführung in die 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Dokumentation &amp; Basistraining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AI Champions &amp; Ownership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Nutzer segmentieren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Adoption aktiv steuern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520440" cy="73152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07 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Impact maximieren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Nur skalieren mit belegtNutzen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Reichweite gezielt erhöhen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Retention &amp; Aufgabenerfolg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·  Kontinuierlich optimieren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KAPITEL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Drei Ergebnis-Muster einer priorisierten AI Strategy — als Illustration, nicht als Ersatz für Ihr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USE CASE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Presentation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Problem: Präsentationen sind zeitaufwändig, inkonsistent und oft nicht aktuell.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72800" cy="1005840"/>
          </a:xfrm>
          <a:prstGeom prst="roundRect">
            <a:avLst>
              <a:gd name="adj" fmla="val 8000"/>
            </a:avLst>
          </a:prstGeom>
          <a:solidFill>
            <a:srgbClr val="191C21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Wertversprechen: Vom generischen Foliensatz zur aktuellen, kundenspezifischen und datenbasierten Vertriebsstory.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CRM, ERP, PIM, Wissensquellen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301752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Storyline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657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Narrative &amp; Slide-Logik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01752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57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Assets &amp; Visuals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01752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657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CI, Layout, Hierarchie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01752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657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Qualität &amp; Marke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Deutlich weniger Zeit für Recherche &amp; Aufbau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84632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074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Kundenspezifisch statt Standard-Pitches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84632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5074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Inhalte direkt aus den Systemen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USE CASE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CRM Enrichment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Verteilte Unternehmensdaten finden, bewerten und strukturiert ins CRM überführen.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Quellen erschließen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Dokumente, ERP/CRM, externe Signale kontinuierlich anbinden.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Informationen bewerten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Aktualität, Relevanz und Confidence Score je Datensatz.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Zuordnen &amp; schreiben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Kunden, Kontakte, Projekte eindeutig matchen und zurückschreiben.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Profil aktuell halten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Vollständiges, nachvollziehbares Kundenbild im CRM.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USE CASE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Sales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Vom Kundenprofil zur evidenzbasierten Next Best Sales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Technologiewechsel oder Spezifikation empfehlen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Upselling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Höherwertiges Angebot bei steigendem Bedarf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Cross-Selling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Ergänzende Produkte aus bestehender Nutzung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Abwanderungsrisiko erkennen und gegensteuern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109728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Priorisierung je Opportunity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297680"/>
            <a:ext cx="2377440" cy="64008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Dringlichkeit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297680"/>
            <a:ext cx="2377440" cy="64008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Abschlusswahrscheinlichkeit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297680"/>
            <a:ext cx="2377440" cy="64008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Deal-Potenzial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4297680"/>
            <a:ext cx="2377440" cy="64008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Datenqualität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Max. fünf priorisierte Chancen pro Kunde — mit Evidenz, Guardrails und klarem nächsten Schritt.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8066"/>
                </a:solidFill>
                <a:latin typeface="JetBrains Mono"/>
                <a:ea typeface="JetBrains Mono"/>
                <a:cs typeface="JetBrains Mono"/>
              </a:rPr>
              <a:t>ÜBERAGENT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Vielen Dank.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Inter"/>
                <a:ea typeface="Inter"/>
                <a:cs typeface="Inter"/>
              </a:rPr>
              <a:t>Laurens Lang MSc MBA  ·  AI Strategy &amp; Implementation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A892"/>
                </a:solidFill>
                <a:latin typeface="Inter"/>
                <a:ea typeface="Inter"/>
                <a:cs typeface="Inter"/>
              </a:rPr>
              <a:t>Nächster Schritt: Strategie-Workshop — Portfolio, Scoring, erste Entscheidungen.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überagent  ·  AI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Juli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